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22792" y="484632"/>
            <a:ext cx="822960" cy="36576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079992" y="850392"/>
            <a:ext cx="365760" cy="64008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445752" y="576072"/>
            <a:ext cx="731520" cy="27432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77272" y="576072"/>
            <a:ext cx="457200" cy="64008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720072" y="1216152"/>
            <a:ext cx="914400" cy="73152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79992" y="1490472"/>
            <a:ext cx="640080" cy="45720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634472" y="1033272"/>
            <a:ext cx="548640" cy="18288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83112" y="1033272"/>
            <a:ext cx="365760" cy="73152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20072" y="1947672"/>
            <a:ext cx="731520" cy="45720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0451592" y="1764792"/>
            <a:ext cx="1097280" cy="640080"/>
          </a:xfrm>
          <a:prstGeom prst="line">
            <a:avLst/>
          </a:prstGeom>
          <a:noFill/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57200"/>
            <a:ext cx="54864" cy="5486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0" y="822960"/>
            <a:ext cx="54864" cy="5486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52560" y="1463040"/>
            <a:ext cx="54864" cy="5486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49840" y="548640"/>
            <a:ext cx="54864" cy="5486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0" y="1920240"/>
            <a:ext cx="54864" cy="5486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1005840"/>
            <a:ext cx="54864" cy="5486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1440" y="1737360"/>
            <a:ext cx="54864" cy="5486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0" y="2377440"/>
            <a:ext cx="54864" cy="5486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909560" y="5029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21A33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5669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914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20072" y="777240"/>
            <a:ext cx="384048" cy="384048"/>
          </a:xfrm>
          <a:prstGeom prst="ellipse">
            <a:avLst/>
          </a:prstGeom>
          <a:solidFill>
            <a:srgbClr val="1A2545"/>
          </a:solidFill>
          <a:ln w="19050">
            <a:solidFill>
              <a:srgbClr val="2A36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0072" y="777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287000" y="5029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21A33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87000" y="5669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287000" y="914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CIFAKE-AI-DETECTOR</a:t>
            </a:r>
            <a:endParaRPr lang="en-US" sz="38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4231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Image Detection Using Deep Learning and Explainable AI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94360" y="3246120"/>
            <a:ext cx="2743200" cy="914"/>
          </a:xfrm>
          <a:prstGeom prst="line">
            <a:avLst/>
          </a:prstGeom>
          <a:noFill/>
          <a:ln w="12700">
            <a:solidFill>
              <a:srgbClr val="2A36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Singupurapu Srihari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4041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(Artificial Intelligence &amp; Machine Learning)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Raghu Engineering College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94360" y="5760720"/>
            <a:ext cx="7406640" cy="640080"/>
          </a:xfrm>
          <a:prstGeom prst="roundRect">
            <a:avLst>
              <a:gd name="adj" fmla="val 11429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760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“Detecting synthetic images and explaining why they are classified as AI-generated.”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9095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09560" y="2011680"/>
            <a:ext cx="3703320" cy="402336"/>
          </a:xfrm>
          <a:prstGeom prst="roundRect">
            <a:avLst>
              <a:gd name="adj" fmla="val 50000"/>
            </a:avLst>
          </a:prstGeom>
          <a:solidFill>
            <a:srgbClr val="1A2545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09560" y="201168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909560" y="2496312"/>
            <a:ext cx="3703320" cy="402336"/>
          </a:xfrm>
          <a:prstGeom prst="roundRect">
            <a:avLst>
              <a:gd name="adj" fmla="val 50000"/>
            </a:avLst>
          </a:prstGeom>
          <a:solidFill>
            <a:srgbClr val="1A2545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09560" y="249631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909560" y="2980944"/>
            <a:ext cx="3703320" cy="402336"/>
          </a:xfrm>
          <a:prstGeom prst="roundRect">
            <a:avLst>
              <a:gd name="adj" fmla="val 50000"/>
            </a:avLst>
          </a:prstGeom>
          <a:solidFill>
            <a:srgbClr val="1A2545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09560" y="298094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(CNN)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909560" y="3465576"/>
            <a:ext cx="3703320" cy="402336"/>
          </a:xfrm>
          <a:prstGeom prst="roundRect">
            <a:avLst>
              <a:gd name="adj" fmla="val 50000"/>
            </a:avLst>
          </a:prstGeom>
          <a:solidFill>
            <a:srgbClr val="1A2545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09560" y="346557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909560" y="3950208"/>
            <a:ext cx="3703320" cy="402336"/>
          </a:xfrm>
          <a:prstGeom prst="roundRect">
            <a:avLst>
              <a:gd name="adj" fmla="val 50000"/>
            </a:avLst>
          </a:prstGeom>
          <a:solidFill>
            <a:srgbClr val="1A2545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909560" y="395020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09560" y="4434840"/>
            <a:ext cx="3703320" cy="402336"/>
          </a:xfrm>
          <a:prstGeom prst="roundRect">
            <a:avLst>
              <a:gd name="adj" fmla="val 50000"/>
            </a:avLst>
          </a:prstGeom>
          <a:solidFill>
            <a:srgbClr val="1A2545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09560" y="443484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 Backend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909560" y="4919472"/>
            <a:ext cx="3703320" cy="402336"/>
          </a:xfrm>
          <a:prstGeom prst="roundRect">
            <a:avLst>
              <a:gd name="adj" fmla="val 50000"/>
            </a:avLst>
          </a:prstGeom>
          <a:solidFill>
            <a:srgbClr val="1A2545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909560" y="49194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25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2062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6492240" cy="4983480"/>
          </a:xfrm>
          <a:prstGeom prst="roundRect">
            <a:avLst>
              <a:gd name="adj" fmla="val 1835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rapid growth of generative AI has made it increasingly difficult to distinguish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images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authentic photographs, creating challenges for digital content verification.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CIFAKE-AI-DETECTOR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deep-learning-based system designed to classify images as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using a model trained on real and synthetic image data through a complete prediction pipeline.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also incorporates Explainable AI using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visualizes the image regions that contributed to the model's prediction — making the system more transparent than a simple black-box classifier.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3258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911096"/>
            <a:ext cx="420624" cy="420624"/>
          </a:xfrm>
          <a:prstGeom prst="ellipse">
            <a:avLst/>
          </a:prstGeom>
          <a:solidFill>
            <a:srgbClr val="1A2545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5236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whether an image is REAL or AI-GENERATED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69480" y="2633472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2807208"/>
            <a:ext cx="420624" cy="420624"/>
          </a:xfrm>
          <a:prstGeom prst="ellipse">
            <a:avLst/>
          </a:prstGeom>
          <a:solidFill>
            <a:srgbClr val="1A2545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6334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prediction confidence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9480" y="3529584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3703320"/>
            <a:ext cx="420624" cy="420624"/>
          </a:xfrm>
          <a:prstGeom prst="ellipse">
            <a:avLst/>
          </a:prstGeom>
          <a:solidFill>
            <a:srgbClr val="1A2545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5295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images through an automated ML pipeline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9480" y="4425696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4599432"/>
            <a:ext cx="420624" cy="420624"/>
          </a:xfrm>
          <a:prstGeom prst="ellipse">
            <a:avLst/>
          </a:prstGeom>
          <a:solidFill>
            <a:srgbClr val="1A2545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4599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42569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visual explanations using Grad-CAM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69480" y="5321808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5495544"/>
            <a:ext cx="420624" cy="420624"/>
          </a:xfrm>
          <a:prstGeom prst="ellipse">
            <a:avLst/>
          </a:prstGeom>
          <a:solidFill>
            <a:srgbClr val="1A2545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5495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53218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practical web-based detection system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25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2062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A2545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54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Visual Inspection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Unnatural textures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inconsistencies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/ shadow errors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Distorted objects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1A2545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40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images are too realistic for reliable manual detection.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32588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554480"/>
            <a:ext cx="502920" cy="502920"/>
          </a:xfrm>
          <a:prstGeom prst="ellipse">
            <a:avLst/>
          </a:prstGeom>
          <a:solidFill>
            <a:srgbClr val="1A2545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1554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Metadata-Based Detection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file &amp; metadata traces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80560" y="379476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1A2545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3840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is easily removed, altered, or lost on re-encoding.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01000" y="132588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554480"/>
            <a:ext cx="502920" cy="502920"/>
          </a:xfrm>
          <a:prstGeom prst="ellipse">
            <a:avLst/>
          </a:prstGeom>
          <a:solidFill>
            <a:srgbClr val="1A2545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1554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Image Forensics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2402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artifacts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patterns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statistics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379476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1A2545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3840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poorly to newer generation techniques.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LIMITATIONS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3492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5349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 →
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00984" y="53492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00984" y="5349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 →
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altered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99048" y="53492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99048" y="5349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 →
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generalization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97112" y="53492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97112" y="5349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ML  →
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interpret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25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2062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CIFAKE-AI-DETECTOR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80944" y="2157984"/>
            <a:ext cx="164592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340864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77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426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· Normalize · Format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80944" y="2926080"/>
            <a:ext cx="164592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10896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21A33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1089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Deep Learning Model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980944" y="3694176"/>
            <a:ext cx="164592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3877056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1788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pPr algn="ctr" indent="0" marL="0">
              <a:buNone/>
            </a:pPr>
            <a:r>
              <a:rPr lang="en-US" sz="10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04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Confidence Score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980944" y="4462272"/>
            <a:ext cx="164592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64515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21A33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64515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80944" y="5230368"/>
            <a:ext cx="164592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541324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54132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Display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1234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636776"/>
            <a:ext cx="457200" cy="457200"/>
          </a:xfrm>
          <a:prstGeom prst="ellipse">
            <a:avLst/>
          </a:prstGeom>
          <a:solidFill>
            <a:srgbClr val="121A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8932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Processing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1883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/ Python prepare the uploaded image for model inference.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2532888"/>
            <a:ext cx="457200" cy="457200"/>
          </a:xfrm>
          <a:prstGeom prst="ellipse">
            <a:avLst/>
          </a:prstGeom>
          <a:solidFill>
            <a:srgbClr val="121A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2468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Model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277977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TensorFlow / Keras CNN learns patterns distinguishing real vs. synthetic images.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3429000"/>
            <a:ext cx="457200" cy="457200"/>
          </a:xfrm>
          <a:prstGeom prst="ellipse">
            <a:avLst/>
          </a:prstGeom>
          <a:solidFill>
            <a:srgbClr val="121A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893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3364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36758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a probability score used to classify the input image.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4325112"/>
            <a:ext cx="457200" cy="457200"/>
          </a:xfrm>
          <a:prstGeom prst="ellipse">
            <a:avLst/>
          </a:prstGeom>
          <a:solidFill>
            <a:srgbClr val="121A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8932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42611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45720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generates a heatmap of regions that influenced the prediction.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89320" y="5221224"/>
            <a:ext cx="457200" cy="457200"/>
          </a:xfrm>
          <a:prstGeom prst="ellipse">
            <a:avLst/>
          </a:prstGeom>
          <a:solidFill>
            <a:srgbClr val="121A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8932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629400" y="51572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6629400" y="54681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+ backend API for upload, prediction and explanation display.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25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2062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F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Expected Outcome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755648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67712" y="1604772"/>
            <a:ext cx="109728" cy="128016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2386584" y="1280160"/>
            <a:ext cx="1755648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6584" y="128016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51376" y="1604772"/>
            <a:ext cx="109728" cy="128016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1" name="Shape 9"/>
          <p:cNvSpPr/>
          <p:nvPr/>
        </p:nvSpPr>
        <p:spPr>
          <a:xfrm>
            <a:off x="4270248" y="1280160"/>
            <a:ext cx="1755648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70248" y="128016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4772"/>
            <a:ext cx="109728" cy="128016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53912" y="1280160"/>
            <a:ext cx="1755648" cy="777240"/>
          </a:xfrm>
          <a:prstGeom prst="roundRect">
            <a:avLst>
              <a:gd name="adj" fmla="val 9412"/>
            </a:avLst>
          </a:prstGeom>
          <a:solidFill>
            <a:srgbClr val="1A2545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53912" y="128016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+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18704" y="1604772"/>
            <a:ext cx="109728" cy="128016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037576" y="1280160"/>
            <a:ext cx="1755648" cy="777240"/>
          </a:xfrm>
          <a:prstGeom prst="roundRect">
            <a:avLst>
              <a:gd name="adj" fmla="val 9412"/>
            </a:avLst>
          </a:prstGeom>
          <a:solidFill>
            <a:srgbClr val="1A2545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37576" y="128016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02368" y="1604772"/>
            <a:ext cx="109728" cy="128016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921240" y="1280160"/>
            <a:ext cx="1755648" cy="777240"/>
          </a:xfrm>
          <a:prstGeom prst="roundRect">
            <a:avLst>
              <a:gd name="adj" fmla="val 9412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1240" y="128016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(Grad-CAM)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423160"/>
            <a:ext cx="5440680" cy="3154680"/>
          </a:xfrm>
          <a:prstGeom prst="roundRect">
            <a:avLst>
              <a:gd name="adj" fmla="val 2899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017520"/>
            <a:ext cx="4892040" cy="1705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AI-generated image detection</a:t>
            </a:r>
            <a:endParaRPr lang="en-US" sz="1200" dirty="0"/>
          </a:p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image classification</a:t>
            </a:r>
            <a:endParaRPr lang="en-US" sz="1200" dirty="0"/>
          </a:p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prediction</a:t>
            </a:r>
            <a:endParaRPr lang="en-US" sz="1200" dirty="0"/>
          </a:p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explanation using Grad-CAM</a:t>
            </a:r>
            <a:endParaRPr lang="en-US" sz="1200" dirty="0"/>
          </a:p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web interface</a:t>
            </a:r>
            <a:endParaRPr lang="en-US" sz="1200" dirty="0"/>
          </a:p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extendable with larger, more diverse datasets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423160"/>
            <a:ext cx="5486400" cy="3154680"/>
          </a:xfrm>
          <a:prstGeom prst="roundRect">
            <a:avLst>
              <a:gd name="adj" fmla="val 2899"/>
            </a:avLst>
          </a:prstGeom>
          <a:solidFill>
            <a:srgbClr val="121A3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017520"/>
            <a:ext cx="4937760" cy="146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larger, more diverse real / AI-generated datasets</a:t>
            </a:r>
            <a:endParaRPr lang="en-US" sz="1200" dirty="0"/>
          </a:p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generalization across generation models</a:t>
            </a:r>
            <a:endParaRPr lang="en-US" sz="1200" dirty="0"/>
          </a:p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AI-generation techniques</a:t>
            </a:r>
            <a:endParaRPr lang="en-US" sz="1200" dirty="0"/>
          </a:p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robustness to compression and editing</a:t>
            </a:r>
            <a:endParaRPr lang="en-US" sz="1200" dirty="0"/>
          </a:p>
          <a:p>
            <a:pPr algn="l"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scalable web service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742432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A25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7424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CIFAKE-AI-DETECTOR</a:t>
            </a:r>
            <a:pPr algn="ctr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EA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deep learning with explainable AI to make AI-generated image detection more practical, transparent, and understandable.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2026-09-23T17:38:44Z</dcterms:created>
  <dcterms:modified xsi:type="dcterms:W3CDTF">2026-09-23T17:38:44Z</dcterms:modified>
</cp:coreProperties>
</file>